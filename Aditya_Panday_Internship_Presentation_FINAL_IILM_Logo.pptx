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BEC6D2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D2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325880"/>
            <a:ext cx="73152" cy="438912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42416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INTERNSHIP PRESENTATION</a:t>
            </a:r>
          </a:p>
          <a:p>
            <a:pPr>
              <a:defRPr b="1" sz="3400">
                <a:solidFill>
                  <a:srgbClr val="E1A427"/>
                </a:solidFill>
                <a:latin typeface="Aptos Display"/>
              </a:defRPr>
            </a:pPr>
            <a:r>
              <a:t>Introduction to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88036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B4C0CF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86207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Aditya Panday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B4C0CF"/>
                </a:solidFill>
                <a:latin typeface="Aptos"/>
              </a:defRPr>
            </a:pPr>
            <a:r>
              <a:t>ENROLLMENT / ROLL 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336499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2410031676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B4C0CF"/>
                </a:solidFill>
                <a:latin typeface="Aptos"/>
              </a:defRPr>
            </a:pPr>
            <a:r>
              <a:t>PROGRAM &amp; SECTION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86791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B.Tech CSE • 3CSE13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8912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B4C0CF"/>
                </a:solidFill>
                <a:latin typeface="Aptos"/>
              </a:defRPr>
            </a:pPr>
            <a:r>
              <a:t>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370832"/>
            <a:ext cx="6217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2026–27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892040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00">
                <a:solidFill>
                  <a:srgbClr val="B4C0CF"/>
                </a:solidFill>
                <a:latin typeface="Aptos"/>
              </a:defRPr>
            </a:pPr>
            <a:r>
              <a:t>ORGANIZATION / PROVIDER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3CCD8"/>
                </a:solidFill>
              </a:defRPr>
            </a:pPr>
            <a:r>
              <a:t>School of Computer Science and Engineering • IILM University, Greater Noida, U.P.</a:t>
            </a:r>
          </a:p>
        </p:txBody>
      </p:sp>
      <p:pic>
        <p:nvPicPr>
          <p:cNvPr id="21" name="Picture 20" descr="iilm_user_suppl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92608"/>
            <a:ext cx="1339575" cy="12984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148840" y="420624"/>
            <a:ext cx="4572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IILM UNIVERSITY</a:t>
            </a:r>
          </a:p>
          <a:p>
            <a:pPr>
              <a:defRPr b="1" sz="1300">
                <a:solidFill>
                  <a:srgbClr val="E1A427"/>
                </a:solidFill>
                <a:latin typeface="Aptos"/>
              </a:defRPr>
            </a:pPr>
            <a:r>
              <a:t>GREATER NOIDA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2651760"/>
            <a:ext cx="9966960" cy="2788920"/>
          </a:xfrm>
          <a:prstGeom prst="rect">
            <a:avLst/>
          </a:prstGeom>
          <a:solidFill>
            <a:srgbClr val="0A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283464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B4C0CF"/>
                </a:solidFill>
                <a:latin typeface="Aptos"/>
              </a:defRPr>
            </a:pPr>
            <a:r>
              <a:t>INTERNSHIP TOPIC / TITLE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2807208"/>
            <a:ext cx="6949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33756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B4C0CF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310128"/>
            <a:ext cx="6949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Aditya Panday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" y="384048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B4C0CF"/>
                </a:solidFill>
                <a:latin typeface="Aptos"/>
              </a:defRPr>
            </a:pPr>
            <a:r>
              <a:t>ENROLLMENT NUMBER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3813048"/>
            <a:ext cx="6949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2410031676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434340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B4C0CF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315968"/>
            <a:ext cx="6949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B.Tech CSE • 3CSE13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4846320"/>
            <a:ext cx="2423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950">
                <a:solidFill>
                  <a:srgbClr val="B4C0CF"/>
                </a:solidFill>
                <a:latin typeface="Aptos"/>
              </a:defRPr>
            </a:pPr>
            <a:r>
              <a:t>ORGANIZATION NAME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818888"/>
            <a:ext cx="69494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Not specified in the supplied certificate/report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669280"/>
            <a:ext cx="9966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C3CCD8"/>
                </a:solidFill>
                <a:latin typeface="Aptos"/>
              </a:defRPr>
            </a:pPr>
            <a:r>
              <a:t>School of Computer Science and Engineering • IILM University, Greater Noida, U.P.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Internship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E"/>
                </a:solidFill>
                <a:latin typeface="Aptos"/>
              </a:defRPr>
            </a:pPr>
            <a:r>
              <a:t>A concise view of the training, certificate and learning focus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474720" cy="1920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73152" cy="19202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3736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6712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Introduction to Data Science</a:t>
            </a:r>
            <a:br/>
            <a:r>
              <a:t>Foundational training focused on understanding the data science lifecycle.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1920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73152" cy="19202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73736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Certificate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16712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Completed on 11 April 2026</a:t>
            </a:r>
            <a:br/>
            <a:r>
              <a:t>Certificate code: 10090201.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474720" cy="19202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00200"/>
            <a:ext cx="73152" cy="19202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37360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Learning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67128"/>
            <a:ext cx="3108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Data handling, basic statistical thinking, exploratory analysis, visualization and interpretation.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0607040" cy="192024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  <a:latin typeface="Aptos"/>
              </a:defRPr>
            </a:pPr>
            <a:r>
              <a:t>The internship/training built a structured understanding of how data can be collected, prepared, explored and interpreted.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  <a:latin typeface="Aptos"/>
              </a:defRPr>
            </a:pPr>
            <a:r>
              <a:t>The supplied documents do not verify specific programming languages, software platforms or organization-specific tools.</a:t>
            </a:r>
          </a:p>
          <a:p>
            <a:pPr>
              <a:spcAft>
                <a:spcPts val="1000"/>
              </a:spcAft>
              <a:defRPr sz="1700">
                <a:solidFill>
                  <a:srgbClr val="1E232A"/>
                </a:solidFill>
                <a:latin typeface="Aptos"/>
              </a:defRPr>
            </a:pPr>
            <a:r>
              <a:t>The presentation therefore focuses on the documented conceptual learning outcomes.</a:t>
            </a:r>
          </a:p>
        </p:txBody>
      </p:sp>
      <p:pic>
        <p:nvPicPr>
          <p:cNvPr id="20" name="Picture 19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What is Data Science?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E"/>
                </a:solidFill>
                <a:latin typeface="Aptos"/>
              </a:defRPr>
            </a:pPr>
            <a:r>
              <a:t>The internship report’s conceptual framing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94960" cy="35661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356616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45919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Interdisciplinary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5029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Data Science combines ideas from statistics, programming, data handling and analytical thinking to discover useful information, patterns and insights from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5257800" cy="15087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08760"/>
            <a:ext cx="73152" cy="150876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645919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From Raw Data to Insight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075688"/>
            <a:ext cx="48920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The central learning theme is transforming raw or unorganized data into information that can be explored, analyzed and communicated clearly.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246120"/>
            <a:ext cx="5257800" cy="18288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3246120"/>
            <a:ext cx="73152" cy="182880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3383279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813048"/>
            <a:ext cx="4892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A structured data workflow helps identify patterns, interpret results and communicate findings in a meaningful way that can support decision-making.</a:t>
            </a:r>
          </a:p>
        </p:txBody>
      </p:sp>
      <p:pic>
        <p:nvPicPr>
          <p:cNvPr id="19" name="Picture 18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Problem Statement &amp;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57800" cy="43434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434340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45919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Modern applications generate large amounts of data, but raw data alone does not directly provide useful conclusions.</a:t>
            </a:r>
            <a:br/>
            <a:br/>
            <a:r>
              <a:t>The challenge is to transform raw or unorganized data into a form that can be explored, analyzed and communicated clearly.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120640" cy="429768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Understand the basic concept and role of Data Science.</a:t>
            </a: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Understand the general data science workflow from data to insights.</a:t>
            </a: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Develop familiarity with data preparation and exploratory analysis.</a:t>
            </a: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Understand how analytical results can support decision-making.</a:t>
            </a:r>
          </a:p>
          <a:p>
            <a:pPr>
              <a:spcAft>
                <a:spcPts val="1000"/>
              </a:spcAft>
              <a:defRPr sz="1600">
                <a:solidFill>
                  <a:srgbClr val="1E232A"/>
                </a:solidFill>
                <a:latin typeface="Aptos"/>
              </a:defRPr>
            </a:pPr>
            <a:r>
              <a:t>Build a foundation for further learning in data analytics and machine learning.</a:t>
            </a:r>
          </a:p>
        </p:txBody>
      </p:sp>
      <p:pic>
        <p:nvPicPr>
          <p:cNvPr id="11" name="Picture 10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Scope of the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E"/>
                </a:solidFill>
                <a:latin typeface="Aptos"/>
              </a:defRPr>
            </a:pPr>
            <a:r>
              <a:t>Fundamentals of the analytical lifecycle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49240" cy="16916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6916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45919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49834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Understanding how relevant data is identified and gathered.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349240" cy="16916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73152" cy="16916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45919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75688"/>
            <a:ext cx="49834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Checking quality, cleaning and organizing data for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16916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03320"/>
            <a:ext cx="73152" cy="16916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840480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Exploratory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270248"/>
            <a:ext cx="49834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Studying distributions, relationships and patterns.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03320"/>
            <a:ext cx="5349240" cy="16916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3703320"/>
            <a:ext cx="73152" cy="16916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840480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270248"/>
            <a:ext cx="49834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Presenting analytical findings in a clear and interpretable form.</a:t>
            </a:r>
          </a:p>
        </p:txBody>
      </p:sp>
      <p:pic>
        <p:nvPicPr>
          <p:cNvPr id="23" name="Picture 22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Conceptual Data Science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E"/>
                </a:solidFill>
                <a:latin typeface="Aptos"/>
              </a:defRPr>
            </a:pPr>
            <a:r>
              <a:t>System architecture described in the internship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331720"/>
            <a:ext cx="1536192" cy="10515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2395727"/>
            <a:ext cx="1389888" cy="9235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300">
                <a:solidFill>
                  <a:srgbClr val="142D4E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9" name="Chevron 8"/>
          <p:cNvSpPr/>
          <p:nvPr/>
        </p:nvSpPr>
        <p:spPr>
          <a:xfrm>
            <a:off x="1993392" y="2660904"/>
            <a:ext cx="146304" cy="384048"/>
          </a:xfrm>
          <a:prstGeom prst="chevron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66544" y="2331720"/>
            <a:ext cx="1536192" cy="10515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9696" y="2395727"/>
            <a:ext cx="1389888" cy="9235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300">
                <a:solidFill>
                  <a:srgbClr val="142D4E"/>
                </a:solidFill>
                <a:latin typeface="Aptos"/>
              </a:defRPr>
            </a:pPr>
            <a:r>
              <a:t>Data Collection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3648456" y="2660904"/>
            <a:ext cx="146304" cy="384048"/>
          </a:xfrm>
          <a:prstGeom prst="chevron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21608" y="2331720"/>
            <a:ext cx="1627632" cy="1051560"/>
          </a:xfrm>
          <a:prstGeom prst="roundRect">
            <a:avLst/>
          </a:prstGeom>
          <a:solidFill>
            <a:srgbClr val="FCF6E5"/>
          </a:solidFill>
          <a:ln w="1524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2395727"/>
            <a:ext cx="1481328" cy="9235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300">
                <a:solidFill>
                  <a:srgbClr val="142D4E"/>
                </a:solidFill>
                <a:latin typeface="Aptos"/>
              </a:defRPr>
            </a:pPr>
            <a:r>
              <a:t>Cleaning &amp;</a:t>
            </a:r>
            <a:br/>
            <a:r>
              <a:t>Preparation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5394960" y="2660904"/>
            <a:ext cx="146304" cy="384048"/>
          </a:xfrm>
          <a:prstGeom prst="chevron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68112" y="2331720"/>
            <a:ext cx="1627632" cy="1051560"/>
          </a:xfrm>
          <a:prstGeom prst="roundRect">
            <a:avLst/>
          </a:prstGeom>
          <a:solidFill>
            <a:srgbClr val="FCF6E5"/>
          </a:solidFill>
          <a:ln w="1524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41264" y="2395727"/>
            <a:ext cx="1481328" cy="9235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300">
                <a:solidFill>
                  <a:srgbClr val="142D4E"/>
                </a:solidFill>
                <a:latin typeface="Aptos"/>
              </a:defRPr>
            </a:pPr>
            <a:r>
              <a:t>Exploratory</a:t>
            </a:r>
            <a:br/>
            <a:r>
              <a:t>Data Analysis</a:t>
            </a:r>
          </a:p>
        </p:txBody>
      </p:sp>
      <p:sp>
        <p:nvSpPr>
          <p:cNvPr id="18" name="Chevron 17"/>
          <p:cNvSpPr/>
          <p:nvPr/>
        </p:nvSpPr>
        <p:spPr>
          <a:xfrm>
            <a:off x="7141464" y="2660904"/>
            <a:ext cx="146304" cy="384048"/>
          </a:xfrm>
          <a:prstGeom prst="chevron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14616" y="2331720"/>
            <a:ext cx="1536192" cy="10515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87768" y="2395727"/>
            <a:ext cx="1389888" cy="9235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300">
                <a:solidFill>
                  <a:srgbClr val="142D4E"/>
                </a:solidFill>
                <a:latin typeface="Aptos"/>
              </a:defRPr>
            </a:pPr>
            <a:r>
              <a:t>Analysis /</a:t>
            </a:r>
            <a:br/>
            <a:r>
              <a:t>Modeling</a:t>
            </a:r>
          </a:p>
        </p:txBody>
      </p:sp>
      <p:sp>
        <p:nvSpPr>
          <p:cNvPr id="21" name="Chevron 20"/>
          <p:cNvSpPr/>
          <p:nvPr/>
        </p:nvSpPr>
        <p:spPr>
          <a:xfrm>
            <a:off x="8796528" y="2660904"/>
            <a:ext cx="146304" cy="384048"/>
          </a:xfrm>
          <a:prstGeom prst="chevron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69680" y="2331720"/>
            <a:ext cx="1627632" cy="1051560"/>
          </a:xfrm>
          <a:prstGeom prst="roundRect">
            <a:avLst/>
          </a:prstGeom>
          <a:solidFill>
            <a:srgbClr val="FCF6E5"/>
          </a:solidFill>
          <a:ln w="1524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2395727"/>
            <a:ext cx="1481328" cy="9235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300">
                <a:solidFill>
                  <a:srgbClr val="142D4E"/>
                </a:solidFill>
                <a:latin typeface="Aptos"/>
              </a:defRPr>
            </a:pPr>
            <a:r>
              <a:t>Visualization &amp;</a:t>
            </a:r>
            <a:br/>
            <a:r>
              <a:t>Interpretation</a:t>
            </a:r>
          </a:p>
        </p:txBody>
      </p:sp>
      <p:sp>
        <p:nvSpPr>
          <p:cNvPr id="24" name="Chevron 23"/>
          <p:cNvSpPr/>
          <p:nvPr/>
        </p:nvSpPr>
        <p:spPr>
          <a:xfrm>
            <a:off x="10543032" y="2660904"/>
            <a:ext cx="146304" cy="384048"/>
          </a:xfrm>
          <a:prstGeom prst="chevron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16184" y="2331720"/>
            <a:ext cx="1627632" cy="10515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142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89336" y="2395727"/>
            <a:ext cx="1481328" cy="9235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b="1" sz="1300">
                <a:solidFill>
                  <a:srgbClr val="142D4E"/>
                </a:solidFill>
                <a:latin typeface="Aptos"/>
              </a:defRPr>
            </a:pPr>
            <a:r>
              <a:t>Insights /</a:t>
            </a:r>
            <a:br/>
            <a:r>
              <a:t>Decision Support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4160520"/>
            <a:ext cx="9966960" cy="11430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7280" y="4160520"/>
            <a:ext cx="73152" cy="114300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98448" y="4297680"/>
            <a:ext cx="9601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Interpretation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472744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The architecture represents a general data science task flow; it is not a claim that a specific system was implemented during the certificate programme.</a:t>
            </a:r>
          </a:p>
        </p:txBody>
      </p:sp>
      <p:pic>
        <p:nvPicPr>
          <p:cNvPr id="31" name="Picture 30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E"/>
                </a:solidFill>
                <a:latin typeface="Aptos"/>
              </a:defRPr>
            </a:pPr>
            <a:r>
              <a:t>Sequential stages used to understand a data science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29000" cy="1783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1" y="1691639"/>
            <a:ext cx="566928" cy="566928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7556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7335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D4E"/>
                </a:solidFill>
              </a:defRPr>
            </a:pPr>
            <a:r>
              <a:t>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75688"/>
            <a:ext cx="2331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32A"/>
                </a:solidFill>
              </a:defRPr>
            </a:pPr>
            <a:r>
              <a:t>Identify the problem and required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08760"/>
            <a:ext cx="3429000" cy="1783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99432" y="1691639"/>
            <a:ext cx="566928" cy="566928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17556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7335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D4E"/>
                </a:solidFill>
              </a:defRPr>
            </a:pPr>
            <a:r>
              <a:t>Collect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75688"/>
            <a:ext cx="2331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32A"/>
                </a:solidFill>
              </a:defRPr>
            </a:pPr>
            <a:r>
              <a:t>Gather data and check its quality.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508760"/>
            <a:ext cx="3429000" cy="1783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94192" y="1691639"/>
            <a:ext cx="566928" cy="566928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1755648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67335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D4E"/>
                </a:solidFill>
              </a:defRPr>
            </a:pPr>
            <a: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075688"/>
            <a:ext cx="2331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32A"/>
                </a:solidFill>
              </a:defRPr>
            </a:pPr>
            <a:r>
              <a:t>Clean and prepare data for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3429000" cy="1783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1" y="3931920"/>
            <a:ext cx="566928" cy="566928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995927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91363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D4E"/>
                </a:solidFill>
              </a:defRPr>
            </a:pPr>
            <a:r>
              <a:t>Explore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315968"/>
            <a:ext cx="2331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32A"/>
                </a:solidFill>
              </a:defRPr>
            </a:pPr>
            <a:r>
              <a:t>Understand distributions, relationships and patterns.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749039"/>
            <a:ext cx="3429000" cy="1783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599432" y="3931920"/>
            <a:ext cx="566928" cy="566928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995927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91363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D4E"/>
                </a:solidFill>
              </a:defRPr>
            </a:pPr>
            <a:r>
              <a:t>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315968"/>
            <a:ext cx="2331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32A"/>
                </a:solidFill>
              </a:defRPr>
            </a:pPr>
            <a:r>
              <a:t>Apply appropriate analytical methods.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49039"/>
            <a:ext cx="3429000" cy="178308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94192" y="3931920"/>
            <a:ext cx="566928" cy="566928"/>
          </a:xfrm>
          <a:prstGeom prst="ellipse">
            <a:avLst/>
          </a:prstGeom>
          <a:solidFill>
            <a:srgbClr val="14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94192" y="3995927"/>
            <a:ext cx="56692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913631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D4E"/>
                </a:solidFill>
              </a:defRPr>
            </a:pPr>
            <a:r>
              <a:t>Communicate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15968"/>
            <a:ext cx="2331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1E232A"/>
                </a:solidFill>
              </a:defRPr>
            </a:pPr>
            <a:r>
              <a:t>Visualize, interpret and clearly communicate findings.</a:t>
            </a:r>
          </a:p>
        </p:txBody>
      </p:sp>
      <p:pic>
        <p:nvPicPr>
          <p:cNvPr id="37" name="Picture 36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Technologies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E"/>
                </a:solidFill>
                <a:latin typeface="Aptos"/>
              </a:defRPr>
            </a:pPr>
            <a:r>
              <a:t>Documented conceptual areas — no specific software was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429000" cy="3474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73152" cy="347472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6916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Data Handling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21408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Working with data, understanding data quality, organizing information and preparing it for analysis.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3474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73152" cy="347472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916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Statistical Thinking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Using basic statistical reasoning to understand distributions, relationships and patterns.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429000" cy="347472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73152" cy="347472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6916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42D4E"/>
                </a:solidFill>
                <a:latin typeface="Aptos Display"/>
              </a:defRPr>
            </a:pPr>
            <a:r>
              <a:t>Exploration &amp;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121408"/>
            <a:ext cx="306324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32A"/>
                </a:solidFill>
                <a:latin typeface="Aptos"/>
              </a:defRPr>
            </a:pPr>
            <a:r>
              <a:t>Exploring data and communicating findings through interpretable visual representations.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66707E"/>
                </a:solidFill>
              </a:defRPr>
            </a:pPr>
            <a:r>
              <a:t>Note: The supplied certificate does not specify particular programming languages, software tools or platforms.</a:t>
            </a:r>
          </a:p>
        </p:txBody>
      </p:sp>
      <p:pic>
        <p:nvPicPr>
          <p:cNvPr id="20" name="Picture 19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Expected Learning Outcomes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1417320"/>
            <a:ext cx="384048" cy="384048"/>
          </a:xfrm>
          <a:prstGeom prst="ellipse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138988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32A"/>
                </a:solidFill>
              </a:defRPr>
            </a:pPr>
            <a:r>
              <a:t>Clear understanding of the Data Science lifecycle.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240280"/>
            <a:ext cx="384048" cy="384048"/>
          </a:xfrm>
          <a:prstGeom prst="ellipse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221284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32A"/>
                </a:solidFill>
              </a:defRPr>
            </a:pPr>
            <a:r>
              <a:t>Improved ability to reason about data.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063240"/>
            <a:ext cx="384048" cy="384048"/>
          </a:xfrm>
          <a:prstGeom prst="ellipse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1328" y="303580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32A"/>
                </a:solidFill>
              </a:defRPr>
            </a:pPr>
            <a:r>
              <a:t>Awareness of data preparation and exploratory analysis.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86200"/>
            <a:ext cx="384048" cy="384048"/>
          </a:xfrm>
          <a:prstGeom prst="ellipse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385876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32A"/>
                </a:solidFill>
              </a:defRPr>
            </a:pPr>
            <a:r>
              <a:t>Foundation for progressing toward data analytics and machine learning.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09160"/>
            <a:ext cx="384048" cy="384048"/>
          </a:xfrm>
          <a:prstGeom prst="ellipse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81328" y="4681728"/>
            <a:ext cx="9875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E232A"/>
                </a:solidFill>
              </a:defRPr>
            </a:pPr>
            <a:r>
              <a:t>Development of analytical and problem-solving skills.</a:t>
            </a:r>
          </a:p>
        </p:txBody>
      </p:sp>
      <p:pic>
        <p:nvPicPr>
          <p:cNvPr id="16" name="Picture 15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Internship Completion Certificate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7E"/>
                </a:solidFill>
                <a:latin typeface="Aptos"/>
              </a:defRPr>
            </a:pPr>
            <a:r>
              <a:t>Supporting proof supplied with the internship report</a:t>
            </a:r>
          </a:p>
        </p:txBody>
      </p:sp>
      <p:pic>
        <p:nvPicPr>
          <p:cNvPr id="7" name="Picture 6" descr="certificat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71037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7280" y="548640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42D4E"/>
                </a:solidFill>
              </a:defRPr>
            </a:pPr>
            <a:r>
              <a:t>ADITYA PANDAY  •  Introduction to Data Science  •  11 April 2026  •  Certificate Code 10090201</a:t>
            </a:r>
          </a:p>
        </p:txBody>
      </p:sp>
      <p:pic>
        <p:nvPicPr>
          <p:cNvPr id="9" name="Picture 8" descr="iilm_user_supplied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BEC6D2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6D2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D0DC"/>
                </a:solidFill>
                <a:latin typeface="Aptos"/>
              </a:defRPr>
            </a:pPr>
            <a:r>
              <a:t>What this internship/training established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3429000" cy="3566160"/>
          </a:xfrm>
          <a:prstGeom prst="roundRect">
            <a:avLst/>
          </a:prstGeom>
          <a:solidFill>
            <a:srgbClr val="142D4E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73152" cy="356616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916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FFFFFF"/>
                </a:solidFill>
                <a:latin typeface="Aptos Display"/>
              </a:defRPr>
            </a:pPr>
            <a:r>
              <a:t>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2140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1E8F0"/>
                </a:solidFill>
                <a:latin typeface="Aptos"/>
              </a:defRPr>
            </a:pPr>
            <a:r>
              <a:t>Built an introductory understanding of Data Science and its role in turning data into useful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54480"/>
            <a:ext cx="3429000" cy="3566160"/>
          </a:xfrm>
          <a:prstGeom prst="roundRect">
            <a:avLst/>
          </a:prstGeom>
          <a:solidFill>
            <a:srgbClr val="142D4E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73152" cy="356616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6916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FFFFFF"/>
                </a:solidFill>
                <a:latin typeface="Aptos Display"/>
              </a:defRPr>
            </a:pPr>
            <a:r>
              <a:t>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12140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1E8F0"/>
                </a:solidFill>
                <a:latin typeface="Aptos"/>
              </a:defRPr>
            </a:pPr>
            <a:r>
              <a:t>Understood the end-to-end conceptual lifecycle: collection → preparation → exploration → analysis → visualization → insights.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54480"/>
            <a:ext cx="3429000" cy="3566160"/>
          </a:xfrm>
          <a:prstGeom prst="roundRect">
            <a:avLst/>
          </a:prstGeom>
          <a:solidFill>
            <a:srgbClr val="142D4E"/>
          </a:solidFill>
          <a:ln w="15240"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73152" cy="356616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691639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FFFFFF"/>
                </a:solidFill>
                <a:latin typeface="Aptos Display"/>
              </a:defRPr>
            </a:pPr>
            <a: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121408"/>
            <a:ext cx="306324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1E8F0"/>
                </a:solidFill>
                <a:latin typeface="Aptos"/>
              </a:defRPr>
            </a:pPr>
            <a:r>
              <a:t>Established a base for further learning in data analytics, machine learning and related areas.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E1A427"/>
                </a:solidFill>
              </a:defRPr>
            </a:pPr>
            <a:r>
              <a:t>Thank You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46920" y="274320"/>
            <a:ext cx="1874519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1A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473952"/>
            <a:ext cx="10789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6707E"/>
                </a:solidFill>
              </a:defRPr>
            </a:pPr>
            <a:r>
              <a:t>IILM University • School of Computer Science &amp;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437376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6707E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42D4E"/>
                </a:solidFill>
                <a:latin typeface="Aptos Display"/>
              </a:defRPr>
            </a:pPr>
            <a:r>
              <a:t>References &amp; Source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515600" cy="31089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IILM University, School of Computer Science and Engineering — Internship Report Format 2026–27.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Aditya Panday, “Introduction to Data Science” Internship Report, submitted to IILM University, Greater Noida.</a:t>
            </a:r>
          </a:p>
          <a:p>
            <a:pPr>
              <a:spcAft>
                <a:spcPts val="1000"/>
              </a:spcAft>
              <a:defRPr sz="1800">
                <a:solidFill>
                  <a:srgbClr val="1E232A"/>
                </a:solidFill>
                <a:latin typeface="Aptos"/>
              </a:defRPr>
            </a:pPr>
            <a:r>
              <a:t>Internship Completion Certificate — Introduction to Data Science, dated 11 April 2026, Certificate Code 10090201.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92040"/>
            <a:ext cx="11" cy="1"/>
          </a:xfrm>
          <a:prstGeom prst="roundRect">
            <a:avLst/>
          </a:prstGeom>
          <a:solidFill>
            <a:srgbClr val="FCF6E5"/>
          </a:solidFill>
          <a:ln>
            <a:solidFill>
              <a:srgbClr val="E1A4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102352"/>
            <a:ext cx="1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42D4E"/>
                </a:solidFill>
              </a:defRPr>
            </a:pPr>
            <a:r>
              <a:t>Prepared using the supplied internship report, completion certificate and the PPT guidelines shown in the provided instruction image.</a:t>
            </a:r>
          </a:p>
        </p:txBody>
      </p:sp>
      <p:pic>
        <p:nvPicPr>
          <p:cNvPr id="9" name="Picture 8" descr="iilm_user_supplie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182880"/>
            <a:ext cx="660354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